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7600" b="1">
                <a:solidFill>
                  <a:srgbClr val="BA3D03"/>
                </a:solidFill>
                <a:latin typeface="Helvetica Neue"/>
              </a:rPr>
              <a:t>A</a:t>
            </a:r>
            <a:r>
              <a:rPr sz="7600" b="1">
                <a:solidFill>
                  <a:srgbClr val="F5F5F5"/>
                </a:solidFill>
                <a:latin typeface="Helvetica Neue"/>
              </a:rPr>
              <a:t>vloniy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24612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A8A8A8"/>
                </a:solidFill>
                <a:latin typeface="Helvetica Neue"/>
              </a:rPr>
              <a:t>Qisqa videolar orqali bilim soting va o'rganing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07070"/>
                </a:solidFill>
                <a:latin typeface="Helvetica Neue"/>
              </a:rPr>
              <a:t>Instagram Reels uslubidagi platforma — kurslarni qisqa vertikal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07070"/>
                </a:solidFill>
                <a:latin typeface="Helvetica Neue"/>
              </a:rPr>
              <a:t>videolar orqali kashf eting, sotib oling va o'rganing.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5029200"/>
            <a:ext cx="1961388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Taqdimot —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8738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685800"/>
            <a:ext cx="2564296" cy="548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01498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MAQSAD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5F5F5"/>
                </a:solidFill>
                <a:latin typeface="Helvetica Neue"/>
              </a:rPr>
              <a:t>Muammo va loyiha maqsadi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5212080" cy="3383280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D24604"/>
                </a:solidFill>
                <a:latin typeface="Helvetica Neue"/>
              </a:rPr>
              <a:t>Muammo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383279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Online kurslar bozori tarqoq va zerikarli.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Foydalanuvchi kursni sotib olishdan oldin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uning sifatini ko'ra olmaydi.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Sotuvchi va o'quvchi o'rtasida jonli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aloqa va jamoa yo'q.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331720"/>
            <a:ext cx="4937760" cy="3383280"/>
          </a:xfrm>
          <a:prstGeom prst="roundRect">
            <a:avLst>
              <a:gd name="adj" fmla="val 6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65176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D24604"/>
                </a:solidFill>
                <a:latin typeface="Helvetica Neue"/>
              </a:rPr>
              <a:t>Yechim — Avloniy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383279"/>
            <a:ext cx="4206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Har bir kurs qisqa, qiziqarli REELS orqali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reklama qilinadi.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Bir tugma bilan sotib olish (mobile-first).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• O'quvchi sotuvchining shaxsiy kanaliga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A8A8A8"/>
                </a:solidFill>
                <a:latin typeface="Helvetica Neue"/>
              </a:rPr>
              <a:t>   qo'shiladi — jonli jamoa va kontent.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01498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UMUMIY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Bitta platforma — ikki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Mobile-first (telefon ekraniga moslangan), o'zbek tilida.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Xaridor (Buyer) — reelslarni ko'radi, kurs sotib oladi, o'rganadi.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Sotuvchi (Seller) — kurs/dars/reel yaratadi, statistikani kuzatadi.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Rolga asoslangan kirish: har bir foydalanuvchi o'z hududida.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Toza, zamonaviy dizayn: light black + Mahogany aksent.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Reels lentasi — kashf qilish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Instagram uslubidagi vertikal video lenta.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Yuqoriga/pastga swipe — keyingi reelga o'tish.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Video avtomatik o'ynaydi, scroll qilinganda to'xtaydi.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Like, izoh, ulashish va saqlash (bookmark).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Har reelda kurs tagi va "Sotib olish — narx" tugmasi.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Kurs sahifasi va sotib 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To'liq ma'lumot, darslar ro'yxati va mock to'lov.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Muqova, tavsif, sotuvchi, narx, statistika va hashtaglar.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Bepul ko'rish (preview) darslari — sotib olmasdan ham.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Bir tugma bilan demo to'lov → "Mening kurslarim"ga qo'shiladi.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Istaklar ro'yxatiga (wishlist) qo'shish.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206654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O'QISH TAJRIBASI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Progress, kviz va darslar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O'quvchi rivojini kuzatadi va bilimini sinaydi.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Har dars ko'rilganda progress avtomatik hisoblanadi (% bar).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Tugatilgan darslar ✓ bilan belgilanadi.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Dars oxirida kviz — to'g'ri/xato javob darhol ko'rsatiladi.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 100% tugaganda — avtomatik sertifikat.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Tugatganlik sertifikati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Kursni yakunlaganlarga brendlangan sertifikat.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 100% tugaganda avtomatik beriladi.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Unikal raqam (masalan: AVL-2026-XXXXXX).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Ism, kurs, o'qituvchi, sana va Avloniy logosi.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Brauzerdan PDF qilib chop etish / saqlash.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MOTIVATSIYA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Streak va shaxsiy 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O'quvchini har kuni o'rganishga undaydi.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Kunlik "streak" (ketma-ketlik) — har kun 1 dars = +1.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Eng uzun streak va sertifikatlar soni profilda.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Saqlangan reels va istaklar ro'yxati.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Sotib olingan kurslar — progress bilan bir joyda.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FUNKSIYA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5F5F5"/>
                </a:solidFill>
                <a:latin typeface="Helvetica Neue"/>
              </a:rPr>
              <a:t>Mening kurslarim (kutubxona)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Sotib olingan barcha kurslar — progress bilan.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Har bir kursning bajarilgan foizi (progress bar).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Darslar soni va o'qituvchi nomi.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Bir bosishda kursni davom ettirish.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SOTUVCHI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Professional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Sotuvchi uchun statistika va grafiklar.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Jami daromad, sotuvlar, ko'rishlar, kurslar soni.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Kurslar bo'yicha daromad grafigi (recharts).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Reels ko'rsatkichlari: ko'rish va like.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Eng ko'p daromad keltirgan kurs.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225296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SOTUVCHI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4980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Studio — kontent yaratish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Instagram uslubidagi profil va boshqaruv.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7315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 yaratish: nom, tavsif, narx, kategoriya, muqova.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Dars qo'shish (video + matn) va kvizlar.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Kursni reklama qiluvchi reel joylash.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Reels grid + statistika (followerga o'xshash tuzilma).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0224" y="603504"/>
            <a:ext cx="2728887" cy="5650992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524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685800"/>
            <a:ext cx="2564296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YANGI G'OYA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5F5F5"/>
                </a:solidFill>
                <a:latin typeface="Helvetica Neue"/>
              </a:rPr>
              <a:t>Shaxsiy kanal (Messenger)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Kurs sotib olgan inson shunchaki video to'plamiga emas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sotuvchining shaxsiy kanaliga qo'shiladi.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6949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Sotuvchi kanalda videolar va shaxsiy postlar yozadi.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Faqat kursni sotib olganlar kira oladi (yopiq jamoa).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Jonli muloqot: e'lonlar, qo'shimcha materiallar, savol-javob.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Telegram kanal + chat hissi — bir joyda.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914400"/>
            <a:ext cx="3200400" cy="50292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41080" y="1234440"/>
            <a:ext cx="2560320" cy="868680"/>
          </a:xfrm>
          <a:prstGeom prst="roundRect">
            <a:avLst>
              <a:gd name="adj" fmla="val 18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3807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5F5"/>
                </a:solidFill>
                <a:latin typeface="Helvetica Neue"/>
              </a:rPr>
              <a:t>Xaridor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A8A8A8"/>
                </a:solidFill>
                <a:latin typeface="Helvetica Neue"/>
              </a:rPr>
              <a:t>kursni sotib oladi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2128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BA3D03"/>
                </a:solidFill>
                <a:latin typeface="Helvetica Neue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560320"/>
            <a:ext cx="2560320" cy="868680"/>
          </a:xfrm>
          <a:prstGeom prst="roundRect">
            <a:avLst>
              <a:gd name="adj" fmla="val 18000"/>
            </a:avLst>
          </a:prstGeom>
          <a:solidFill>
            <a:srgbClr val="BA3D03"/>
          </a:solidFill>
          <a:ln w="12700">
            <a:solidFill>
              <a:srgbClr val="D246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70662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5F5"/>
                </a:solidFill>
                <a:latin typeface="Helvetica Neue"/>
              </a:rPr>
              <a:t>🔒  Shaxsiy kanal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5F5F5"/>
                </a:solidFill>
                <a:latin typeface="Helvetica Neue"/>
              </a:rPr>
              <a:t>yopiq jamoaga qo'shiladi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566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BA3D03"/>
                </a:solidFill>
                <a:latin typeface="Helvetica Neue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977639"/>
            <a:ext cx="2560320" cy="868680"/>
          </a:xfrm>
          <a:prstGeom prst="roundRect">
            <a:avLst>
              <a:gd name="adj" fmla="val 18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41239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5F5"/>
                </a:solidFill>
                <a:latin typeface="Helvetica Neue"/>
              </a:rPr>
              <a:t>Video + Postlar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A8A8A8"/>
                </a:solidFill>
                <a:latin typeface="Helvetica Neue"/>
              </a:rPr>
              <a:t>sotuvchidan doimiy kontent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YANGI G'OYA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5F5F5"/>
                </a:solidFill>
                <a:latin typeface="Helvetica Neue"/>
              </a:rPr>
              <a:t>Kerakli kanallarni topish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Foydalanuvchi o'ziga kerakli soha bo'yicha kanallarni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8A8A8"/>
                </a:solidFill>
                <a:latin typeface="Helvetica Neue"/>
              </a:rPr>
              <a:t>oson va tez topa olishi kerak.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6949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Soha / yo'nalish bo'yicha qidiruv (Dasturlash, Dizayn...).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Hashtag va kategoriya bo'yicha filtr.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Trenddagi kurslar va top sotuvchilar.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BA3D03"/>
                </a:solidFill>
                <a:latin typeface="Helvetica Neue"/>
              </a:rPr>
              <a:t>▸  </a:t>
            </a:r>
            <a:r>
              <a:rPr sz="1500" b="0">
                <a:solidFill>
                  <a:srgbClr val="F5F5F5"/>
                </a:solidFill>
                <a:latin typeface="Helvetica Neue"/>
              </a:rPr>
              <a:t>Tavsiyalar: qiziqishingizga mos kanallar.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914400"/>
            <a:ext cx="3200400" cy="5029200"/>
          </a:xfrm>
          <a:prstGeom prst="roundRect">
            <a:avLst>
              <a:gd name="adj" fmla="val 5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41080" y="1234440"/>
            <a:ext cx="2560320" cy="640080"/>
          </a:xfrm>
          <a:prstGeom prst="roundRect">
            <a:avLst>
              <a:gd name="adj" fmla="val 25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371600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A3D03"/>
                </a:solidFill>
                <a:latin typeface="Helvetica Neue"/>
              </a:rPr>
              <a:t>🔍  </a:t>
            </a:r>
            <a:r>
              <a:rPr sz="1300" b="0">
                <a:solidFill>
                  <a:srgbClr val="A8A8A8"/>
                </a:solidFill>
                <a:latin typeface="Helvetica Neue"/>
              </a:rPr>
              <a:t>Soha qidirish...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14884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23960" y="23500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3317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F5F5"/>
                </a:solidFill>
                <a:latin typeface="Helvetica Neue"/>
              </a:rPr>
              <a:t>Aziz Rahimov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24604"/>
                </a:solidFill>
                <a:latin typeface="Helvetica Neue"/>
              </a:rPr>
              <a:t>Dasturlash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29184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34930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34747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F5F5"/>
                </a:solidFill>
                <a:latin typeface="Helvetica Neue"/>
              </a:rPr>
              <a:t>Dilnoza K.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24604"/>
                </a:solidFill>
                <a:latin typeface="Helvetica Neue"/>
              </a:rPr>
              <a:t>Dizayn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43484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2A2A2A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4636007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6177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5F5F5"/>
                </a:solidFill>
                <a:latin typeface="Helvetica Neue"/>
              </a:rPr>
              <a:t>Sardor 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24604"/>
                </a:solidFill>
                <a:latin typeface="Helvetica Neue"/>
              </a:rPr>
              <a:t>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66928"/>
            <a:ext cx="1540764" cy="420624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50" b="1">
                <a:solidFill>
                  <a:srgbClr val="F5F5F5"/>
                </a:solidFill>
                <a:latin typeface="Helvetica Neue"/>
              </a:rPr>
              <a:t>TEXNOLOGIYA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5F5F5"/>
                </a:solidFill>
                <a:latin typeface="Helvetica Neue"/>
              </a:rPr>
              <a:t>Texnologiyalar va arxitektura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8600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468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90779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App Router, TypeScript — zamonaviy React freymvork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4688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Tailwind CSS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0779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Dizayn tokenlari: light black + Mahogany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1188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19" y="37947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Zustand + 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42336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Demo ma'lumotlar brauzerda saqlanadi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1188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7947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recharts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23367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Sotuvchi dashboard grafiklari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3776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Mobile-first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559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~430px telefon shell, Instagram tuyg'usi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257800" cy="10972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D24604"/>
                </a:solidFill>
                <a:latin typeface="Helvetica Neue"/>
              </a:rPr>
              <a:t>Vercel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559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8A8A8"/>
                </a:solidFill>
                <a:latin typeface="Helvetica Neue"/>
              </a:rPr>
              <a:t>Sozlashsiz, bir bosishda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5F5F5"/>
                </a:solidFill>
                <a:latin typeface="Helvetica Neue"/>
              </a:rPr>
              <a:t>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A8A8A8"/>
                </a:solidFill>
                <a:latin typeface="Helvetica Neue"/>
              </a:rPr>
              <a:t>Avloniy — </a:t>
            </a:r>
            <a:r>
              <a:rPr sz="2200" b="1">
                <a:solidFill>
                  <a:srgbClr val="D24604"/>
                </a:solidFill>
                <a:latin typeface="Helvetica Neue"/>
              </a:rPr>
              <a:t>bilim soting, bilim o'rganing.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07070"/>
                </a:solidFill>
                <a:latin typeface="Helvetica Neue"/>
              </a:rPr>
              <a:t>Demo: ali@misol.uz (xaridor) • aziz@misol.uz (sotuvchi) • parol123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48463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BA3D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5F5F5"/>
                </a:solidFill>
                <a:latin typeface="Helvetica Neue"/>
              </a:rPr>
              <a:t>Savollar?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55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707070"/>
                </a:solidFill>
                <a:latin typeface="Helvetica Neue"/>
              </a:rPr>
              <a:t>Avloniy</a:t>
            </a:r>
            <a:r>
              <a:rPr sz="1100" b="0">
                <a:solidFill>
                  <a:srgbClr val="707070"/>
                </a:solidFill>
                <a:latin typeface="Helvetica Neue"/>
              </a:rPr>
              <a:t>  •  bilim platformasi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A3D03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